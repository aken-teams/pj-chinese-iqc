
<file path=[Content_Types].xml><?xml version="1.0" encoding="utf-8"?>
<Types xmlns="http://schemas.openxmlformats.org/package/2006/content-types">
  <Default Extension="png" ContentType="image/png"/>
  <Default Extension="xlsm" ContentType="application/vnd.ms-excel.sheet.macroEnabled.12"/>
  <Default Extension="jpeg" ContentType="image/jpeg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15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7" r:id="rId2"/>
    <p:sldMasterId id="2147483668" r:id="rId3"/>
    <p:sldMasterId id="2147483680" r:id="rId4"/>
    <p:sldMasterId id="2147483693" r:id="rId5"/>
  </p:sldMasterIdLst>
  <p:notesMasterIdLst>
    <p:notesMasterId r:id="rId12"/>
  </p:notesMasterIdLst>
  <p:handoutMasterIdLst>
    <p:handoutMasterId r:id="rId13"/>
  </p:handoutMasterIdLst>
  <p:sldIdLst>
    <p:sldId id="399" r:id="rId6"/>
    <p:sldId id="1360" r:id="rId7"/>
    <p:sldId id="1361" r:id="rId8"/>
    <p:sldId id="1362" r:id="rId9"/>
    <p:sldId id="1363" r:id="rId10"/>
    <p:sldId id="272" r:id="rId11"/>
  </p:sldIdLst>
  <p:sldSz cx="12192000" cy="6858000"/>
  <p:notesSz cx="6807200" cy="9939338"/>
  <p:custDataLst>
    <p:tags r:id="rId14"/>
  </p:custDataLst>
  <p:defaultTextStyle>
    <a:defPPr>
      <a:defRPr lang="zh-TW"/>
    </a:defPPr>
    <a:lvl1pPr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59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31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03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7530" indent="1905" algn="l" defTabSz="913130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29" userDrawn="1">
          <p15:clr>
            <a:srgbClr val="A4A3A4"/>
          </p15:clr>
        </p15:guide>
        <p15:guide id="2" pos="43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黃慧華" initials="黃慧華" lastIdx="2" clrIdx="0"/>
  <p:cmAuthor id="2" name="TaoYang 杨韬" initials="T杨" lastIdx="3" clrIdx="1"/>
  <p:cmAuthor id="3" name="AnnanZhao 赵安南" initials="A赵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33CC"/>
    <a:srgbClr val="FF0F0F"/>
    <a:srgbClr val="33CC33"/>
    <a:srgbClr val="DCE6F1"/>
    <a:srgbClr val="79BCFF"/>
    <a:srgbClr val="89C4FF"/>
    <a:srgbClr val="D5EDFF"/>
    <a:srgbClr val="CBD3F7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81" autoAdjust="0"/>
    <p:restoredTop sz="94333" autoAdjust="0"/>
  </p:normalViewPr>
  <p:slideViewPr>
    <p:cSldViewPr showGuides="1">
      <p:cViewPr varScale="1">
        <p:scale>
          <a:sx n="99" d="100"/>
          <a:sy n="99" d="100"/>
        </p:scale>
        <p:origin x="470" y="62"/>
      </p:cViewPr>
      <p:guideLst>
        <p:guide orient="horz" pos="3929"/>
        <p:guide pos="4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032"/>
    </p:cViewPr>
  </p:sorterViewPr>
  <p:notesViewPr>
    <p:cSldViewPr>
      <p:cViewPr varScale="1">
        <p:scale>
          <a:sx n="61" d="100"/>
          <a:sy n="61" d="100"/>
        </p:scale>
        <p:origin x="3254" y="62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新細明體" panose="02020500000000000000" pitchFamily="18" charset="-120"/>
                <a:cs typeface="新細明體" panose="02020500000000000000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5A847D2-9079-4D58-9A94-16BD669D004F}" type="datetimeFigureOut">
              <a:rPr lang="zh-TW" altLang="en-US"/>
              <a:t>2026/3/6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新細明體" panose="02020500000000000000" pitchFamily="18" charset="-120"/>
                <a:cs typeface="新細明體" panose="02020500000000000000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3637B50-CDA1-4D6F-BDF5-2CD77E2F008F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4400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E4C827A-9F58-4A1F-8B57-A5DAC56BFF47}" type="datetimeFigureOut">
              <a:rPr lang="zh-TW" altLang="en-US"/>
              <a:t>2026/3/6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4400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30B63FC-43CB-421C-97BB-D6F994B2A048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新細明體" panose="02020500000000000000" pitchFamily="18" charset="-12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2075" y="746125"/>
            <a:ext cx="6623050" cy="3725863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TW" altLang="en-US" b="1" dirty="0"/>
              <a:t>标题字型</a:t>
            </a:r>
            <a:r>
              <a:rPr lang="en-US" altLang="zh-TW" b="1" dirty="0"/>
              <a:t>Title Font</a:t>
            </a:r>
          </a:p>
          <a:p>
            <a:r>
              <a:rPr lang="en-US" altLang="zh-TW" dirty="0"/>
              <a:t>English: Arial</a:t>
            </a:r>
            <a:r>
              <a:rPr lang="zh-TW" altLang="en-US" dirty="0"/>
              <a:t> </a:t>
            </a:r>
            <a:r>
              <a:rPr lang="en-US" altLang="zh-TW" dirty="0"/>
              <a:t>/ 40</a:t>
            </a:r>
          </a:p>
          <a:p>
            <a:r>
              <a:rPr lang="zh-TW" altLang="en-US" dirty="0"/>
              <a:t>中文</a:t>
            </a:r>
            <a:r>
              <a:rPr lang="en-US" altLang="zh-TW" dirty="0"/>
              <a:t>:</a:t>
            </a:r>
            <a:r>
              <a:rPr lang="zh-TW" altLang="en-US" dirty="0"/>
              <a:t> 微软正黑体 </a:t>
            </a:r>
            <a:r>
              <a:rPr lang="en-US" altLang="zh-TW" dirty="0"/>
              <a:t>/ 40</a:t>
            </a:r>
            <a:r>
              <a:rPr lang="zh-TW" altLang="en-US" dirty="0"/>
              <a:t> 粗体</a:t>
            </a:r>
            <a:r>
              <a:rPr lang="en-US" altLang="zh-TW" dirty="0"/>
              <a:t>(</a:t>
            </a:r>
            <a:r>
              <a:rPr lang="en-US" altLang="zh-TW" b="1" dirty="0"/>
              <a:t>B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lang="zh-TW" altLang="en-US" dirty="0"/>
              <a:t>颜色</a:t>
            </a:r>
            <a:r>
              <a:rPr lang="en-US" altLang="zh-TW" dirty="0"/>
              <a:t>Color:</a:t>
            </a:r>
            <a:r>
              <a:rPr lang="zh-TW" altLang="en-US" dirty="0"/>
              <a:t> </a:t>
            </a:r>
            <a:r>
              <a:rPr lang="en-US" altLang="zh-TW" dirty="0"/>
              <a:t>R_0 / G_117 / B194</a:t>
            </a:r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fld id="{EB71385F-26B3-4330-9A4C-C287A84D15FB}" type="slidenum">
              <a:rPr kumimoji="0" lang="zh-TW" altLang="en-US" smtClean="0">
                <a:latin typeface="Calibri" panose="020F0502020204030204" pitchFamily="34" charset="0"/>
              </a:rPr>
              <a:t>1</a:t>
            </a:fld>
            <a:endParaRPr kumimoji="0" lang="zh-TW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8160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816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TW" altLang="en-US" sz="1200" dirty="0">
                <a:latin typeface="Calibri" panose="020F0502020204030204" pitchFamily="34" charset="0"/>
              </a:rPr>
              <a:t>2</a:t>
            </a:fld>
            <a:endParaRPr lang="zh-TW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8160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816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TW" altLang="en-US" sz="1200" dirty="0">
                <a:latin typeface="Calibri" panose="020F0502020204030204" pitchFamily="34" charset="0"/>
              </a:rPr>
              <a:t>3</a:t>
            </a:fld>
            <a:endParaRPr lang="zh-TW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251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8160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816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TW" altLang="en-US" sz="1200" dirty="0">
                <a:latin typeface="Calibri" panose="020F0502020204030204" pitchFamily="34" charset="0"/>
              </a:rPr>
              <a:t>4</a:t>
            </a:fld>
            <a:endParaRPr lang="zh-TW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952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8160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2816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TW" altLang="en-US" sz="1200" dirty="0">
                <a:latin typeface="Calibri" panose="020F0502020204030204" pitchFamily="34" charset="0"/>
              </a:rPr>
              <a:t>5</a:t>
            </a:fld>
            <a:endParaRPr lang="zh-TW" alt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048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2075" y="746125"/>
            <a:ext cx="6623050" cy="3725863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TW" altLang="en-US"/>
          </a:p>
        </p:txBody>
      </p:sp>
      <p:sp>
        <p:nvSpPr>
          <p:cNvPr id="1126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34C1478-4C98-4733-93F2-09DD157B89F3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49.xml"/><Relationship Id="rId4" Type="http://schemas.openxmlformats.org/officeDocument/2006/relationships/tags" Target="../tags/tag48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9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67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81.xml"/><Relationship Id="rId4" Type="http://schemas.openxmlformats.org/officeDocument/2006/relationships/tags" Target="../tags/tag80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85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90.xml"/><Relationship Id="rId4" Type="http://schemas.openxmlformats.org/officeDocument/2006/relationships/tags" Target="../tags/tag89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01.xml"/><Relationship Id="rId4" Type="http://schemas.openxmlformats.org/officeDocument/2006/relationships/tags" Target="../tags/tag100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06.xml"/><Relationship Id="rId4" Type="http://schemas.openxmlformats.org/officeDocument/2006/relationships/tags" Target="../tags/tag10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11.xml"/><Relationship Id="rId4" Type="http://schemas.openxmlformats.org/officeDocument/2006/relationships/tags" Target="../tags/tag110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9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2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4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43.xml"/><Relationship Id="rId4" Type="http://schemas.openxmlformats.org/officeDocument/2006/relationships/tags" Target="../tags/tag14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47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52.xml"/><Relationship Id="rId4" Type="http://schemas.openxmlformats.org/officeDocument/2006/relationships/tags" Target="../tags/tag15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5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5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4510-16A5-46CD-B754-DDB2D6B78506}" type="datetime1">
              <a:rPr lang="zh-TW" altLang="en-US"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3935E-115F-4E21-97FD-86B85E25FB6B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85AF1A-C166-439C-8098-34327406949B}" type="datetime1">
              <a:rPr lang="zh-TW" altLang="en-US"/>
              <a:t>2026/3/6</a:t>
            </a:fld>
            <a:endParaRPr lang="zh-TW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86E1C-D7CA-4D0F-B02C-A4BFA6B0ED8A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918" y="65659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2024 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微軟正黑體" panose="020B0604030504040204" charset="-120"/>
            </a:endParaRPr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277284" y="6581775"/>
            <a:ext cx="1056216" cy="23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925" dirty="0"/>
              <a:t>Q3, 2024</a:t>
            </a:r>
            <a:endParaRPr lang="zh-TW" altLang="en-US" sz="925" dirty="0"/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1" tIns="42201" rIns="84401" bIns="42201" anchor="ctr"/>
          <a:lstStyle/>
          <a:p>
            <a:pPr algn="ctr" eaLnBrk="1" hangingPunct="1">
              <a:defRPr/>
            </a:pPr>
            <a:fld id="{E73E75DD-ADB7-447E-BD90-622B5E9FE698}" type="slidenum">
              <a:rPr kumimoji="0" lang="zh-TW" altLang="en-US" sz="111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9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6924" y="135015"/>
            <a:ext cx="9250259" cy="728700"/>
          </a:xfrm>
        </p:spPr>
        <p:txBody>
          <a:bodyPr/>
          <a:lstStyle>
            <a:lvl1pPr algn="l">
              <a:defRPr sz="3690" b="1">
                <a:solidFill>
                  <a:srgbClr val="0075C2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defRPr>
            </a:lvl1pPr>
          </a:lstStyle>
          <a:p>
            <a:r>
              <a:rPr lang="zh-TW" altLang="x-none" dirty="0"/>
              <a:t>按一下以編輯母片標題樣式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idx="1" hasCustomPrompt="1"/>
          </p:nvPr>
        </p:nvSpPr>
        <p:spPr bwMode="auto">
          <a:xfrm>
            <a:off x="609600" y="1043736"/>
            <a:ext cx="10972800" cy="50824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Clr>
                <a:srgbClr val="0075C2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75C2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75C2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altLang="zh-TW" noProof="0" dirty="0"/>
              <a:t> test 1</a:t>
            </a:r>
          </a:p>
          <a:p>
            <a:pPr lvl="1"/>
            <a:r>
              <a:rPr lang="en-US" altLang="zh-TW" noProof="0" dirty="0"/>
              <a:t> test 1-1</a:t>
            </a:r>
          </a:p>
          <a:p>
            <a:pPr lvl="1"/>
            <a:r>
              <a:rPr lang="en-US" altLang="zh-TW" noProof="0" dirty="0"/>
              <a:t> test 1-2</a:t>
            </a:r>
          </a:p>
          <a:p>
            <a:pPr lvl="2"/>
            <a:r>
              <a:rPr lang="en-US" altLang="zh-TW" noProof="0" dirty="0"/>
              <a:t>test 1-2-1</a:t>
            </a:r>
          </a:p>
          <a:p>
            <a:pPr lvl="0"/>
            <a:r>
              <a:rPr lang="en-US" altLang="zh-TW" noProof="0" dirty="0"/>
              <a:t>test 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85AF1A-C166-439C-8098-34327406949B}" type="datetime1">
              <a:rPr lang="zh-TW" altLang="en-US"/>
              <a:t>2026/3/6</a:t>
            </a:fld>
            <a:endParaRPr lang="zh-TW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86E1C-D7CA-4D0F-B02C-A4BFA6B0ED8A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2BC03-1243-459F-885E-9E96BAB76430}" type="datetime1">
              <a:rPr lang="zh-TW" altLang="en-US"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33791-390B-496C-A563-44AFC9C2FE0A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85AF1A-C166-439C-8098-34327406949B}" type="datetime1">
              <a:rPr lang="zh-TW" altLang="en-US"/>
              <a:t>2026/3/6</a:t>
            </a:fld>
            <a:endParaRPr lang="zh-TW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786E1C-D7CA-4D0F-B02C-A4BFA6B0ED8A}" type="slidenum">
              <a:rPr lang="zh-TW" altLang="en-US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標題 3"/>
          <p:cNvSpPr>
            <a:spLocks noGrp="1"/>
          </p:cNvSpPr>
          <p:nvPr>
            <p:ph type="title" idx="4294967295"/>
          </p:nvPr>
        </p:nvSpPr>
        <p:spPr>
          <a:xfrm>
            <a:off x="609600" y="85998"/>
            <a:ext cx="10972800" cy="67870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endParaRPr lang="zh-TW" altLang="en-US" dirty="0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0874F-20E4-4659-A9B2-4550D18C12AA}" type="slidenum">
              <a:rPr lang="zh-TW" altLang="en-US"/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918" y="6565900"/>
            <a:ext cx="5429249" cy="241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2023 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微軟正黑體" panose="020B0604030504040204" charset="-120"/>
            </a:endParaRPr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277284" y="6581775"/>
            <a:ext cx="1056216" cy="23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925" dirty="0"/>
              <a:t>Q3, 2023</a:t>
            </a:r>
            <a:endParaRPr lang="zh-TW" altLang="en-US" sz="925" dirty="0"/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401" tIns="42201" rIns="84401" bIns="42201" anchor="ctr"/>
          <a:lstStyle/>
          <a:p>
            <a:pPr algn="ctr" eaLnBrk="1" hangingPunct="1">
              <a:defRPr/>
            </a:pPr>
            <a:fld id="{E73E75DD-ADB7-447E-BD90-622B5E9FE698}" type="slidenum">
              <a:rPr kumimoji="0" lang="zh-TW" altLang="en-US" sz="111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9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6924" y="135015"/>
            <a:ext cx="9250259" cy="728700"/>
          </a:xfrm>
        </p:spPr>
        <p:txBody>
          <a:bodyPr/>
          <a:lstStyle>
            <a:lvl1pPr algn="l">
              <a:defRPr sz="3690" b="1">
                <a:solidFill>
                  <a:srgbClr val="0075C2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defRPr>
            </a:lvl1pPr>
          </a:lstStyle>
          <a:p>
            <a:r>
              <a:rPr lang="zh-TW" altLang="x-none" dirty="0"/>
              <a:t>按一下以編輯母片標題樣式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idx="1" hasCustomPrompt="1"/>
          </p:nvPr>
        </p:nvSpPr>
        <p:spPr bwMode="auto">
          <a:xfrm>
            <a:off x="609600" y="1043736"/>
            <a:ext cx="10972800" cy="50824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Clr>
                <a:srgbClr val="0075C2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75C2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75C2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altLang="zh-TW" noProof="0" dirty="0"/>
              <a:t> test 1</a:t>
            </a:r>
          </a:p>
          <a:p>
            <a:pPr lvl="1"/>
            <a:r>
              <a:rPr lang="en-US" altLang="zh-TW" noProof="0" dirty="0"/>
              <a:t> test 1-1</a:t>
            </a:r>
          </a:p>
          <a:p>
            <a:pPr lvl="1"/>
            <a:r>
              <a:rPr lang="en-US" altLang="zh-TW" noProof="0" dirty="0"/>
              <a:t> test 1-2</a:t>
            </a:r>
          </a:p>
          <a:p>
            <a:pPr lvl="2"/>
            <a:r>
              <a:rPr lang="en-US" altLang="zh-TW" noProof="0" dirty="0"/>
              <a:t>test 1-2-1</a:t>
            </a:r>
          </a:p>
          <a:p>
            <a:pPr lvl="0"/>
            <a:r>
              <a:rPr lang="en-US" altLang="zh-TW" noProof="0" dirty="0"/>
              <a:t>test 2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5475" y="54045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155575" y="908685"/>
            <a:ext cx="11953240" cy="503237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單擊此處編輯母版文本樣式</a:t>
            </a:r>
          </a:p>
          <a:p>
            <a:pPr lvl="1"/>
            <a:r>
              <a:rPr lang="zh-CN" altLang="en-US"/>
              <a:t>第二級</a:t>
            </a:r>
          </a:p>
          <a:p>
            <a:pPr lvl="2"/>
            <a:r>
              <a:rPr lang="zh-CN" altLang="en-US"/>
              <a:t>第三級</a:t>
            </a:r>
          </a:p>
          <a:p>
            <a:pPr lvl="3"/>
            <a:r>
              <a:rPr lang="zh-CN" altLang="en-US"/>
              <a:t>第四級</a:t>
            </a:r>
          </a:p>
          <a:p>
            <a:pPr lvl="4"/>
            <a:r>
              <a:rPr lang="zh-CN" altLang="en-US"/>
              <a:t>第五級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390" y="54045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5475" y="54045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5645" y="9913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2026/3/6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 userDrawn="1"/>
        </p:nvSpPr>
        <p:spPr bwMode="auto">
          <a:xfrm>
            <a:off x="3989389" y="6565902"/>
            <a:ext cx="5430837" cy="2235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313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855" dirty="0">
                <a:latin typeface="Calibri" panose="020F0502020204030204" pitchFamily="34" charset="0"/>
              </a:rPr>
              <a:t>Copyright© 2022 PANJIT International Inc. All rights reserved.</a:t>
            </a:r>
            <a:endParaRPr kumimoji="0" lang="zh-TW" altLang="en-US" sz="855" dirty="0">
              <a:latin typeface="Calibri" panose="020F0502020204030204" pitchFamily="34" charset="0"/>
            </a:endParaRPr>
          </a:p>
        </p:txBody>
      </p:sp>
      <p:cxnSp>
        <p:nvCxnSpPr>
          <p:cNvPr id="5" name="直線接點 4"/>
          <p:cNvCxnSpPr/>
          <p:nvPr userDrawn="1"/>
        </p:nvCxnSpPr>
        <p:spPr>
          <a:xfrm>
            <a:off x="592138" y="836613"/>
            <a:ext cx="973455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人工輸入 6"/>
          <p:cNvSpPr/>
          <p:nvPr userDrawn="1"/>
        </p:nvSpPr>
        <p:spPr>
          <a:xfrm rot="16200000" flipH="1">
            <a:off x="11391108" y="6039645"/>
            <a:ext cx="323850" cy="131286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74290" tIns="37146" rIns="74290" bIns="37146" anchor="ctr">
            <a:normAutofit/>
          </a:bodyPr>
          <a:lstStyle/>
          <a:p>
            <a:pPr>
              <a:defRPr/>
            </a:pPr>
            <a:endParaRPr lang="zh-TW" altLang="en-US" sz="3575" b="1" dirty="0">
              <a:solidFill>
                <a:schemeClr val="bg1"/>
              </a:solidFill>
              <a:latin typeface="+mj-lt"/>
              <a:ea typeface="微軟正黑體" panose="020B0604030504040204" charset="-120"/>
            </a:endParaRPr>
          </a:p>
        </p:txBody>
      </p:sp>
      <p:sp>
        <p:nvSpPr>
          <p:cNvPr id="9" name="投影片編號版面配置區 14"/>
          <p:cNvSpPr txBox="1"/>
          <p:nvPr userDrawn="1"/>
        </p:nvSpPr>
        <p:spPr bwMode="auto">
          <a:xfrm>
            <a:off x="11356977" y="6529390"/>
            <a:ext cx="574674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290" tIns="37146" rIns="74290" bIns="37146" anchor="ctr"/>
          <a:lstStyle/>
          <a:p>
            <a:pPr algn="ctr" eaLnBrk="1" hangingPunct="1"/>
            <a:fld id="{CC0A5A91-1AE8-4C68-B561-B56839C5F1F0}" type="slidenum">
              <a:rPr kumimoji="0" lang="zh-TW" altLang="en-US" sz="975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14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圖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1138" y="211140"/>
            <a:ext cx="13811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版面配置區 2"/>
          <p:cNvSpPr>
            <a:spLocks noGrp="1"/>
          </p:cNvSpPr>
          <p:nvPr>
            <p:ph idx="1" hasCustomPrompt="1"/>
          </p:nvPr>
        </p:nvSpPr>
        <p:spPr bwMode="auto">
          <a:xfrm>
            <a:off x="609600" y="1043736"/>
            <a:ext cx="10972800" cy="50824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buClr>
                <a:srgbClr val="0075C2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75C2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75C2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altLang="zh-TW" noProof="0" dirty="0"/>
              <a:t> test 1</a:t>
            </a:r>
          </a:p>
          <a:p>
            <a:pPr lvl="1"/>
            <a:r>
              <a:rPr lang="en-US" altLang="zh-TW" noProof="0" dirty="0"/>
              <a:t> test 1-1</a:t>
            </a:r>
          </a:p>
          <a:p>
            <a:pPr lvl="1"/>
            <a:r>
              <a:rPr lang="en-US" altLang="zh-TW" noProof="0" dirty="0"/>
              <a:t> test 1-2</a:t>
            </a:r>
          </a:p>
          <a:p>
            <a:pPr lvl="2"/>
            <a:r>
              <a:rPr lang="en-US" altLang="zh-TW" noProof="0" dirty="0"/>
              <a:t>test 1-2-1</a:t>
            </a:r>
          </a:p>
          <a:p>
            <a:pPr lvl="0"/>
            <a:r>
              <a:rPr lang="en-US" altLang="zh-TW" noProof="0" dirty="0"/>
              <a:t>test 2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6925" y="90010"/>
            <a:ext cx="9250258" cy="728700"/>
          </a:xfrm>
        </p:spPr>
        <p:txBody>
          <a:bodyPr/>
          <a:lstStyle>
            <a:lvl1pPr algn="l">
              <a:defRPr sz="3250" b="1">
                <a:solidFill>
                  <a:srgbClr val="0075C2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defRPr>
            </a:lvl1pPr>
          </a:lstStyle>
          <a:p>
            <a:r>
              <a:rPr lang="zh-TW" altLang="x-none" dirty="0"/>
              <a:t>按一下以編輯母片標題樣式</a:t>
            </a:r>
            <a:endParaRPr lang="zh-TW" altLang="en-US" dirty="0"/>
          </a:p>
        </p:txBody>
      </p:sp>
      <p:sp>
        <p:nvSpPr>
          <p:cNvPr id="11" name="日期版面配置區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2021-Q3</a:t>
            </a:r>
            <a:endParaRPr lang="zh-TW" altLang="en-US" dirty="0"/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1"/>
          </p:nvPr>
        </p:nvSpPr>
        <p:spPr>
          <a:xfrm>
            <a:off x="8737600" y="6381751"/>
            <a:ext cx="2844800" cy="365125"/>
          </a:xfrm>
        </p:spPr>
        <p:txBody>
          <a:bodyPr/>
          <a:lstStyle/>
          <a:p>
            <a:pPr>
              <a:defRPr/>
            </a:pPr>
            <a:fld id="{8E214173-DD5B-4097-BF07-D1443E4A32B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頁尾版面配置區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zh-TW" altLang="en-US" dirty="0"/>
          </a:p>
        </p:txBody>
      </p:sp>
    </p:spTree>
  </p:cSld>
  <p:clrMapOvr>
    <a:masterClrMapping/>
  </p:clrMapOvr>
  <p:transition>
    <p:cut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0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1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175105-CEB8-484E-842C-041D39579A4D}" type="slidenum">
              <a:rPr lang="zh-TW" altLang="en-US"/>
              <a:t>‹#›</a:t>
            </a:fld>
            <a:endParaRPr lang="zh-TW" altLang="en-US"/>
          </a:p>
        </p:txBody>
      </p:sp>
      <p:sp>
        <p:nvSpPr>
          <p:cNvPr id="7" name="矩形 1"/>
          <p:cNvSpPr>
            <a:spLocks noChangeArrowheads="1"/>
          </p:cNvSpPr>
          <p:nvPr userDrawn="1"/>
        </p:nvSpPr>
        <p:spPr bwMode="auto">
          <a:xfrm>
            <a:off x="0" y="6572234"/>
            <a:ext cx="5429251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微軟正黑體" panose="020B0604030504040204" charset="-120"/>
                <a:ea typeface="微軟正黑體" panose="020B060403050404020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微軟正黑體" panose="020B0604030504040204" charset="-120"/>
                <a:ea typeface="微軟正黑體" panose="020B060403050404020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zh-TW" sz="1015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Copyright© 202</a:t>
            </a:r>
            <a:r>
              <a:rPr kumimoji="0" lang="en-US" altLang="zh-CN" sz="1015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3</a:t>
            </a:r>
            <a:r>
              <a:rPr kumimoji="0" lang="en-US" altLang="zh-TW" sz="1015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 PANJIT International Inc. All rights reserved.</a:t>
            </a:r>
            <a:endParaRPr kumimoji="0" lang="zh-TW" altLang="en-US" sz="1015" dirty="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7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人工輸入 8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微軟正黑體" panose="020B0604030504040204" charset="-120"/>
            </a:endParaRPr>
          </a:p>
        </p:txBody>
      </p:sp>
      <p:sp>
        <p:nvSpPr>
          <p:cNvPr id="7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</p:spPr>
        <p:txBody>
          <a:bodyPr lIns="84401" tIns="42201" rIns="84401" bIns="42201" anchor="ctr"/>
          <a:lstStyle/>
          <a:p>
            <a:pPr algn="ctr" eaLnBrk="1" hangingPunct="1"/>
            <a:fld id="{050BCDC1-527C-4019-8DC2-42453719CA53}" type="slidenum">
              <a:rPr kumimoji="0" lang="zh-TW" altLang="en-US" sz="11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0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圖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0"/>
          <p:cNvSpPr txBox="1">
            <a:spLocks noChangeArrowheads="1"/>
          </p:cNvSpPr>
          <p:nvPr userDrawn="1"/>
        </p:nvSpPr>
        <p:spPr bwMode="auto">
          <a:xfrm>
            <a:off x="0" y="863600"/>
            <a:ext cx="2427125" cy="355635"/>
          </a:xfrm>
          <a:prstGeom prst="rect">
            <a:avLst/>
          </a:prstGeom>
          <a:noFill/>
          <a:ln>
            <a:noFill/>
          </a:ln>
        </p:spPr>
        <p:txBody>
          <a:bodyPr wrap="none"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Executive Summary: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Rectangle 8"/>
          <p:cNvSpPr/>
          <p:nvPr userDrawn="1"/>
        </p:nvSpPr>
        <p:spPr>
          <a:xfrm>
            <a:off x="1" y="1214438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Description(D2) </a:t>
            </a:r>
          </a:p>
        </p:txBody>
      </p:sp>
      <p:sp>
        <p:nvSpPr>
          <p:cNvPr id="13" name="Rectangle 9"/>
          <p:cNvSpPr/>
          <p:nvPr userDrawn="1"/>
        </p:nvSpPr>
        <p:spPr>
          <a:xfrm>
            <a:off x="6191251" y="1214438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Facts and Figures (D2/D3/D4) </a:t>
            </a:r>
          </a:p>
        </p:txBody>
      </p:sp>
      <p:sp>
        <p:nvSpPr>
          <p:cNvPr id="14" name="Rectangle 10"/>
          <p:cNvSpPr/>
          <p:nvPr userDrawn="1"/>
        </p:nvSpPr>
        <p:spPr>
          <a:xfrm>
            <a:off x="6191251" y="3733800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Root Cause (D4) </a:t>
            </a:r>
          </a:p>
        </p:txBody>
      </p:sp>
      <p:sp>
        <p:nvSpPr>
          <p:cNvPr id="15" name="Rectangle 11"/>
          <p:cNvSpPr/>
          <p:nvPr userDrawn="1"/>
        </p:nvSpPr>
        <p:spPr>
          <a:xfrm>
            <a:off x="1" y="3733800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Measures (D5, D6, D7) </a:t>
            </a:r>
          </a:p>
        </p:txBody>
      </p:sp>
      <p:sp>
        <p:nvSpPr>
          <p:cNvPr id="16" name="箭头: 右 14"/>
          <p:cNvSpPr>
            <a:spLocks noChangeArrowheads="1"/>
          </p:cNvSpPr>
          <p:nvPr userDrawn="1"/>
        </p:nvSpPr>
        <p:spPr bwMode="auto">
          <a:xfrm>
            <a:off x="5877985" y="226383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sp>
        <p:nvSpPr>
          <p:cNvPr id="17" name="箭头: 右 15"/>
          <p:cNvSpPr>
            <a:spLocks noChangeArrowheads="1"/>
          </p:cNvSpPr>
          <p:nvPr userDrawn="1"/>
        </p:nvSpPr>
        <p:spPr bwMode="auto">
          <a:xfrm flipH="1">
            <a:off x="5877985" y="499495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sp>
        <p:nvSpPr>
          <p:cNvPr id="19" name="TextBox 5"/>
          <p:cNvSpPr txBox="1">
            <a:spLocks noChangeArrowheads="1"/>
          </p:cNvSpPr>
          <p:nvPr userDrawn="1"/>
        </p:nvSpPr>
        <p:spPr bwMode="auto">
          <a:xfrm>
            <a:off x="8534400" y="868363"/>
            <a:ext cx="1761067" cy="355600"/>
          </a:xfrm>
          <a:prstGeom prst="rect">
            <a:avLst/>
          </a:prstGeom>
          <a:noFill/>
          <a:ln>
            <a:noFill/>
          </a:ln>
        </p:spPr>
        <p:txBody>
          <a:bodyPr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Category: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0" name="Straight Connector 7"/>
          <p:cNvCxnSpPr/>
          <p:nvPr userDrawn="1"/>
        </p:nvCxnSpPr>
        <p:spPr>
          <a:xfrm>
            <a:off x="6096000" y="1202653"/>
            <a:ext cx="0" cy="5400000"/>
          </a:xfrm>
          <a:prstGeom prst="line">
            <a:avLst/>
          </a:prstGeom>
          <a:ln>
            <a:solidFill>
              <a:srgbClr val="0075C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556685" y="134938"/>
            <a:ext cx="9249833" cy="728662"/>
          </a:xfrm>
        </p:spPr>
        <p:txBody>
          <a:bodyPr/>
          <a:lstStyle>
            <a:lvl1pPr algn="l">
              <a:defRPr kumimoji="1" lang="zh-TW" altLang="en-US" sz="3690" b="1" kern="1200" dirty="0">
                <a:solidFill>
                  <a:srgbClr val="0075C2"/>
                </a:solidFill>
                <a:latin typeface="Arial" panose="020B0604020202020204" pitchFamily="34" charset="0"/>
                <a:ea typeface="微軟正黑體" panose="020B0604030504040204" charset="-12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Process Quality Issue</a:t>
            </a:r>
            <a:endParaRPr lang="zh-TW" altLang="en-US" dirty="0"/>
          </a:p>
        </p:txBody>
      </p:sp>
      <p:sp>
        <p:nvSpPr>
          <p:cNvPr id="21" name="矩形 20"/>
          <p:cNvSpPr>
            <a:spLocks noChangeArrowheads="1"/>
          </p:cNvSpPr>
          <p:nvPr userDrawn="1"/>
        </p:nvSpPr>
        <p:spPr bwMode="auto">
          <a:xfrm>
            <a:off x="3381377" y="6616700"/>
            <a:ext cx="5429249" cy="241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TW"/>
            </a:defPPr>
            <a:lvl1pPr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59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31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03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75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</a:t>
            </a:r>
            <a:r>
              <a:rPr kumimoji="0" lang="en-US" altLang="zh-CN" sz="970" dirty="0">
                <a:latin typeface="Calibri" panose="020F0502020204030204" pitchFamily="34" charset="0"/>
              </a:rPr>
              <a:t>3</a:t>
            </a:r>
            <a:r>
              <a:rPr kumimoji="0" lang="en-US" altLang="zh-TW" sz="970" dirty="0">
                <a:latin typeface="Calibri" panose="020F0502020204030204" pitchFamily="34" charset="0"/>
              </a:rPr>
              <a:t>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sp>
        <p:nvSpPr>
          <p:cNvPr id="2" name="矩形: 圆角 1"/>
          <p:cNvSpPr/>
          <p:nvPr userDrawn="1">
            <p:custDataLst>
              <p:tags r:id="rId1"/>
            </p:custDataLst>
          </p:nvPr>
        </p:nvSpPr>
        <p:spPr>
          <a:xfrm>
            <a:off x="8014758" y="282368"/>
            <a:ext cx="2353733" cy="46831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已关闭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7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人工輸入 8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微軟正黑體" panose="020B0604030504040204" charset="-120"/>
            </a:endParaRPr>
          </a:p>
        </p:txBody>
      </p:sp>
      <p:sp>
        <p:nvSpPr>
          <p:cNvPr id="7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</p:spPr>
        <p:txBody>
          <a:bodyPr lIns="84401" tIns="42201" rIns="84401" bIns="42201" anchor="ctr"/>
          <a:lstStyle/>
          <a:p>
            <a:pPr algn="ctr" eaLnBrk="1" hangingPunct="1"/>
            <a:fld id="{82E82F15-8EBA-4481-A029-6BB7374F6055}" type="slidenum">
              <a:rPr kumimoji="0" lang="zh-TW" altLang="en-US" sz="11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0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圖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556685" y="134938"/>
            <a:ext cx="9249833" cy="728662"/>
          </a:xfrm>
        </p:spPr>
        <p:txBody>
          <a:bodyPr/>
          <a:lstStyle>
            <a:lvl1pPr algn="l">
              <a:defRPr kumimoji="1" lang="zh-TW" altLang="en-US" sz="3690" b="1" kern="1200" dirty="0">
                <a:solidFill>
                  <a:srgbClr val="0075C2"/>
                </a:solidFill>
                <a:latin typeface="Arial" panose="020B0604020202020204" pitchFamily="34" charset="0"/>
                <a:ea typeface="微軟正黑體" panose="020B0604030504040204" charset="-12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Process Quality Issue</a:t>
            </a:r>
            <a:endParaRPr lang="zh-TW" altLang="en-US" dirty="0"/>
          </a:p>
        </p:txBody>
      </p: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3381377" y="66167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TW"/>
            </a:defPPr>
            <a:lvl1pPr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59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31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03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75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</a:t>
            </a:r>
            <a:r>
              <a:rPr kumimoji="0" lang="en-US" altLang="zh-CN" sz="970" dirty="0">
                <a:latin typeface="Calibri" panose="020F0502020204030204" pitchFamily="34" charset="0"/>
              </a:rPr>
              <a:t>3</a:t>
            </a:r>
            <a:r>
              <a:rPr kumimoji="0" lang="en-US" altLang="zh-TW" sz="970" dirty="0">
                <a:latin typeface="Calibri" panose="020F0502020204030204" pitchFamily="34" charset="0"/>
              </a:rPr>
              <a:t> 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sp>
        <p:nvSpPr>
          <p:cNvPr id="2" name="矩形: 圆角 1"/>
          <p:cNvSpPr/>
          <p:nvPr userDrawn="1">
            <p:custDataLst>
              <p:tags r:id="rId1"/>
            </p:custDataLst>
          </p:nvPr>
        </p:nvSpPr>
        <p:spPr>
          <a:xfrm>
            <a:off x="578773" y="2396505"/>
            <a:ext cx="2353733" cy="46831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3000" dirty="0">
                <a:solidFill>
                  <a:srgbClr val="00B0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已关闭</a:t>
            </a:r>
          </a:p>
        </p:txBody>
      </p:sp>
      <p:sp>
        <p:nvSpPr>
          <p:cNvPr id="3" name="矩形 9"/>
          <p:cNvSpPr/>
          <p:nvPr userDrawn="1"/>
        </p:nvSpPr>
        <p:spPr>
          <a:xfrm>
            <a:off x="277813" y="6581775"/>
            <a:ext cx="10541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en-US" altLang="zh-TW" sz="1000" dirty="0">
                <a:latin typeface="Arial" panose="020B0604020202020204" pitchFamily="34" charset="0"/>
              </a:rPr>
              <a:t>Q3, 2023</a:t>
            </a:r>
            <a:endParaRPr lang="zh-TW" altLang="en-US" sz="1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7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人工輸入 8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微軟正黑體" panose="020B0604030504040204" charset="-120"/>
            </a:endParaRPr>
          </a:p>
        </p:txBody>
      </p:sp>
      <p:sp>
        <p:nvSpPr>
          <p:cNvPr id="7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</p:spPr>
        <p:txBody>
          <a:bodyPr lIns="84401" tIns="42201" rIns="84401" bIns="42201" anchor="ctr"/>
          <a:lstStyle/>
          <a:p>
            <a:pPr algn="ctr" eaLnBrk="1" hangingPunct="1"/>
            <a:fld id="{E47B9A0A-DCBC-4B09-AED3-4C33630F9E65}" type="slidenum">
              <a:rPr kumimoji="0" lang="zh-TW" altLang="en-US" sz="11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0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圖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0" y="863600"/>
            <a:ext cx="2427125" cy="355635"/>
          </a:xfrm>
          <a:prstGeom prst="rect">
            <a:avLst/>
          </a:prstGeom>
          <a:noFill/>
          <a:ln>
            <a:noFill/>
          </a:ln>
        </p:spPr>
        <p:txBody>
          <a:bodyPr wrap="none"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Executive Summary: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8534400" y="868363"/>
            <a:ext cx="1761067" cy="355600"/>
          </a:xfrm>
          <a:prstGeom prst="rect">
            <a:avLst/>
          </a:prstGeom>
          <a:noFill/>
          <a:ln>
            <a:noFill/>
          </a:ln>
        </p:spPr>
        <p:txBody>
          <a:bodyPr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Category: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矩形: 圆角 19"/>
          <p:cNvSpPr/>
          <p:nvPr userDrawn="1"/>
        </p:nvSpPr>
        <p:spPr>
          <a:xfrm>
            <a:off x="8060267" y="304801"/>
            <a:ext cx="2353733" cy="468313"/>
          </a:xfrm>
          <a:prstGeom prst="round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800" dirty="0">
                <a:solidFill>
                  <a:srgbClr val="33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Tracking</a:t>
            </a:r>
            <a:endParaRPr lang="zh-CN" altLang="en-US" sz="2800" dirty="0">
              <a:solidFill>
                <a:srgbClr val="336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556685" y="134938"/>
            <a:ext cx="9249833" cy="728662"/>
          </a:xfrm>
        </p:spPr>
        <p:txBody>
          <a:bodyPr/>
          <a:lstStyle>
            <a:lvl1pPr algn="l">
              <a:defRPr kumimoji="1" lang="zh-TW" altLang="en-US" sz="3690" b="1" kern="1200" dirty="0">
                <a:solidFill>
                  <a:srgbClr val="0075C2"/>
                </a:solidFill>
                <a:latin typeface="Arial" panose="020B0604020202020204" pitchFamily="34" charset="0"/>
                <a:ea typeface="微軟正黑體" panose="020B0604030504040204" charset="-12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Process Quality Issue</a:t>
            </a:r>
            <a:endParaRPr lang="zh-TW" altLang="en-US" dirty="0"/>
          </a:p>
        </p:txBody>
      </p:sp>
      <p:sp>
        <p:nvSpPr>
          <p:cNvPr id="29" name="Rectangle 8"/>
          <p:cNvSpPr/>
          <p:nvPr userDrawn="1"/>
        </p:nvSpPr>
        <p:spPr>
          <a:xfrm>
            <a:off x="1" y="1214438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Description(D2) </a:t>
            </a:r>
          </a:p>
        </p:txBody>
      </p:sp>
      <p:sp>
        <p:nvSpPr>
          <p:cNvPr id="30" name="Rectangle 9"/>
          <p:cNvSpPr/>
          <p:nvPr userDrawn="1"/>
        </p:nvSpPr>
        <p:spPr>
          <a:xfrm>
            <a:off x="6191251" y="1214438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Facts and Figures (D2/D3/D4) </a:t>
            </a:r>
          </a:p>
        </p:txBody>
      </p:sp>
      <p:sp>
        <p:nvSpPr>
          <p:cNvPr id="31" name="Rectangle 10"/>
          <p:cNvSpPr/>
          <p:nvPr userDrawn="1"/>
        </p:nvSpPr>
        <p:spPr>
          <a:xfrm>
            <a:off x="6191251" y="3733800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Root Cause (D4) </a:t>
            </a:r>
          </a:p>
        </p:txBody>
      </p:sp>
      <p:sp>
        <p:nvSpPr>
          <p:cNvPr id="32" name="Rectangle 11"/>
          <p:cNvSpPr/>
          <p:nvPr userDrawn="1"/>
        </p:nvSpPr>
        <p:spPr>
          <a:xfrm>
            <a:off x="1" y="3733800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Measures (D5, D6, D7) </a:t>
            </a:r>
          </a:p>
        </p:txBody>
      </p:sp>
      <p:sp>
        <p:nvSpPr>
          <p:cNvPr id="33" name="箭头: 右 14"/>
          <p:cNvSpPr>
            <a:spLocks noChangeArrowheads="1"/>
          </p:cNvSpPr>
          <p:nvPr userDrawn="1"/>
        </p:nvSpPr>
        <p:spPr bwMode="auto">
          <a:xfrm>
            <a:off x="5877985" y="226383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sp>
        <p:nvSpPr>
          <p:cNvPr id="34" name="箭头: 右 15"/>
          <p:cNvSpPr>
            <a:spLocks noChangeArrowheads="1"/>
          </p:cNvSpPr>
          <p:nvPr userDrawn="1"/>
        </p:nvSpPr>
        <p:spPr bwMode="auto">
          <a:xfrm flipH="1">
            <a:off x="5877985" y="499495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cxnSp>
        <p:nvCxnSpPr>
          <p:cNvPr id="35" name="Straight Connector 7"/>
          <p:cNvCxnSpPr/>
          <p:nvPr userDrawn="1"/>
        </p:nvCxnSpPr>
        <p:spPr>
          <a:xfrm>
            <a:off x="6096000" y="1202653"/>
            <a:ext cx="0" cy="5400000"/>
          </a:xfrm>
          <a:prstGeom prst="line">
            <a:avLst/>
          </a:prstGeom>
          <a:ln>
            <a:solidFill>
              <a:srgbClr val="0075C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ChangeArrowheads="1"/>
          </p:cNvSpPr>
          <p:nvPr userDrawn="1"/>
        </p:nvSpPr>
        <p:spPr bwMode="auto">
          <a:xfrm>
            <a:off x="3381377" y="6616700"/>
            <a:ext cx="5429249" cy="240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TW"/>
            </a:defPPr>
            <a:lvl1pPr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59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31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03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75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</a:t>
            </a:r>
            <a:r>
              <a:rPr kumimoji="0" lang="en-US" altLang="zh-CN" sz="970" dirty="0">
                <a:latin typeface="Calibri" panose="020F0502020204030204" pitchFamily="34" charset="0"/>
              </a:rPr>
              <a:t>3</a:t>
            </a:r>
            <a:r>
              <a:rPr kumimoji="0" lang="en-US" altLang="zh-TW" sz="970" dirty="0">
                <a:latin typeface="Calibri" panose="020F0502020204030204" pitchFamily="34" charset="0"/>
              </a:rPr>
              <a:t> 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7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人工輸入 8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微軟正黑體" panose="020B0604030504040204" charset="-120"/>
            </a:endParaRPr>
          </a:p>
        </p:txBody>
      </p:sp>
      <p:sp>
        <p:nvSpPr>
          <p:cNvPr id="7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</p:spPr>
        <p:txBody>
          <a:bodyPr lIns="84401" tIns="42201" rIns="84401" bIns="42201" anchor="ctr"/>
          <a:lstStyle/>
          <a:p>
            <a:pPr algn="ctr" eaLnBrk="1" hangingPunct="1"/>
            <a:fld id="{3664D840-E204-46B8-92DA-8C761C4D4B88}" type="slidenum">
              <a:rPr kumimoji="0" lang="zh-TW" altLang="en-US" sz="11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0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圖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0" y="863600"/>
            <a:ext cx="2427125" cy="355635"/>
          </a:xfrm>
          <a:prstGeom prst="rect">
            <a:avLst/>
          </a:prstGeom>
          <a:noFill/>
          <a:ln>
            <a:noFill/>
          </a:ln>
        </p:spPr>
        <p:txBody>
          <a:bodyPr wrap="none"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Executive Summary: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8534400" y="868363"/>
            <a:ext cx="1761067" cy="355600"/>
          </a:xfrm>
          <a:prstGeom prst="rect">
            <a:avLst/>
          </a:prstGeom>
          <a:noFill/>
          <a:ln>
            <a:noFill/>
          </a:ln>
        </p:spPr>
        <p:txBody>
          <a:bodyPr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Category: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矩形: 圆角 19"/>
          <p:cNvSpPr/>
          <p:nvPr userDrawn="1"/>
        </p:nvSpPr>
        <p:spPr>
          <a:xfrm>
            <a:off x="8053368" y="304801"/>
            <a:ext cx="2353733" cy="468313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600" dirty="0">
                <a:solidFill>
                  <a:schemeClr val="accent6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S-Closed</a:t>
            </a:r>
            <a:endParaRPr lang="zh-CN" altLang="en-US" sz="2600" dirty="0">
              <a:solidFill>
                <a:schemeClr val="accent6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556685" y="134938"/>
            <a:ext cx="9249833" cy="728662"/>
          </a:xfrm>
        </p:spPr>
        <p:txBody>
          <a:bodyPr/>
          <a:lstStyle>
            <a:lvl1pPr algn="l">
              <a:defRPr kumimoji="1" lang="zh-TW" altLang="en-US" sz="3690" b="1" kern="1200" dirty="0">
                <a:solidFill>
                  <a:srgbClr val="0075C2"/>
                </a:solidFill>
                <a:latin typeface="Arial" panose="020B0604020202020204" pitchFamily="34" charset="0"/>
                <a:ea typeface="微軟正黑體" panose="020B0604030504040204" charset="-12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Process Quality Issue</a:t>
            </a:r>
            <a:endParaRPr lang="zh-TW" altLang="en-US" dirty="0"/>
          </a:p>
        </p:txBody>
      </p:sp>
      <p:sp>
        <p:nvSpPr>
          <p:cNvPr id="29" name="Rectangle 8"/>
          <p:cNvSpPr/>
          <p:nvPr userDrawn="1"/>
        </p:nvSpPr>
        <p:spPr>
          <a:xfrm>
            <a:off x="1" y="1214438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Description(D2) </a:t>
            </a:r>
          </a:p>
        </p:txBody>
      </p:sp>
      <p:sp>
        <p:nvSpPr>
          <p:cNvPr id="30" name="Rectangle 9"/>
          <p:cNvSpPr/>
          <p:nvPr userDrawn="1"/>
        </p:nvSpPr>
        <p:spPr>
          <a:xfrm>
            <a:off x="6191251" y="1214438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Facts and Figures (D2/D3/D4) </a:t>
            </a:r>
          </a:p>
        </p:txBody>
      </p:sp>
      <p:sp>
        <p:nvSpPr>
          <p:cNvPr id="31" name="Rectangle 10"/>
          <p:cNvSpPr/>
          <p:nvPr userDrawn="1"/>
        </p:nvSpPr>
        <p:spPr>
          <a:xfrm>
            <a:off x="6191251" y="3733800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Root Cause (D4) </a:t>
            </a:r>
          </a:p>
        </p:txBody>
      </p:sp>
      <p:sp>
        <p:nvSpPr>
          <p:cNvPr id="32" name="Rectangle 11"/>
          <p:cNvSpPr/>
          <p:nvPr userDrawn="1"/>
        </p:nvSpPr>
        <p:spPr>
          <a:xfrm>
            <a:off x="1" y="3733800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Measures (D5, D6, D7) </a:t>
            </a:r>
          </a:p>
        </p:txBody>
      </p:sp>
      <p:sp>
        <p:nvSpPr>
          <p:cNvPr id="33" name="箭头: 右 14"/>
          <p:cNvSpPr>
            <a:spLocks noChangeArrowheads="1"/>
          </p:cNvSpPr>
          <p:nvPr userDrawn="1"/>
        </p:nvSpPr>
        <p:spPr bwMode="auto">
          <a:xfrm>
            <a:off x="5877985" y="226383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sp>
        <p:nvSpPr>
          <p:cNvPr id="34" name="箭头: 右 15"/>
          <p:cNvSpPr>
            <a:spLocks noChangeArrowheads="1"/>
          </p:cNvSpPr>
          <p:nvPr userDrawn="1"/>
        </p:nvSpPr>
        <p:spPr bwMode="auto">
          <a:xfrm flipH="1">
            <a:off x="5877985" y="499495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cxnSp>
        <p:nvCxnSpPr>
          <p:cNvPr id="35" name="Straight Connector 7"/>
          <p:cNvCxnSpPr/>
          <p:nvPr userDrawn="1"/>
        </p:nvCxnSpPr>
        <p:spPr>
          <a:xfrm>
            <a:off x="6096000" y="1202653"/>
            <a:ext cx="0" cy="5400000"/>
          </a:xfrm>
          <a:prstGeom prst="line">
            <a:avLst/>
          </a:prstGeom>
          <a:ln>
            <a:solidFill>
              <a:srgbClr val="0075C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ChangeArrowheads="1"/>
          </p:cNvSpPr>
          <p:nvPr userDrawn="1"/>
        </p:nvSpPr>
        <p:spPr bwMode="auto">
          <a:xfrm>
            <a:off x="3381377" y="6616700"/>
            <a:ext cx="5429249" cy="241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TW"/>
            </a:defPPr>
            <a:lvl1pPr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59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31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03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75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</a:t>
            </a:r>
            <a:r>
              <a:rPr kumimoji="0" lang="en-US" altLang="zh-CN" sz="970" dirty="0">
                <a:latin typeface="Calibri" panose="020F0502020204030204" pitchFamily="34" charset="0"/>
              </a:rPr>
              <a:t>3</a:t>
            </a:r>
            <a:r>
              <a:rPr kumimoji="0" lang="en-US" altLang="zh-TW" sz="970" dirty="0">
                <a:latin typeface="Calibri" panose="020F0502020204030204" pitchFamily="34" charset="0"/>
              </a:rPr>
              <a:t> 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7"/>
          <p:cNvCxnSpPr/>
          <p:nvPr userDrawn="1"/>
        </p:nvCxnSpPr>
        <p:spPr>
          <a:xfrm>
            <a:off x="592667" y="836613"/>
            <a:ext cx="9880600" cy="0"/>
          </a:xfrm>
          <a:prstGeom prst="line">
            <a:avLst/>
          </a:prstGeom>
          <a:ln w="28575">
            <a:solidFill>
              <a:srgbClr val="0075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人工輸入 8"/>
          <p:cNvSpPr/>
          <p:nvPr userDrawn="1"/>
        </p:nvSpPr>
        <p:spPr>
          <a:xfrm rot="16200000" flipH="1">
            <a:off x="11390842" y="6039909"/>
            <a:ext cx="323850" cy="1312333"/>
          </a:xfrm>
          <a:prstGeom prst="flowChartManualInput">
            <a:avLst/>
          </a:prstGeom>
          <a:gradFill flip="none" rotWithShape="1">
            <a:gsLst>
              <a:gs pos="0">
                <a:schemeClr val="bg1"/>
              </a:gs>
              <a:gs pos="25000">
                <a:srgbClr val="21D6E0"/>
              </a:gs>
              <a:gs pos="25000">
                <a:srgbClr val="21D6E0"/>
              </a:gs>
              <a:gs pos="12000">
                <a:schemeClr val="accent5">
                  <a:lumMod val="40000"/>
                  <a:lumOff val="60000"/>
                </a:schemeClr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/>
          </a:gradFill>
          <a:ln>
            <a:noFill/>
          </a:ln>
        </p:spPr>
        <p:txBody>
          <a:bodyPr lIns="84401" tIns="42201" rIns="84401" bIns="42201" anchor="ctr">
            <a:normAutofit/>
          </a:bodyPr>
          <a:lstStyle/>
          <a:p>
            <a:pPr>
              <a:defRPr/>
            </a:pPr>
            <a:endParaRPr lang="zh-TW" altLang="en-US" sz="4060" b="1" dirty="0">
              <a:solidFill>
                <a:schemeClr val="bg1"/>
              </a:solidFill>
              <a:latin typeface="+mj-lt"/>
              <a:ea typeface="微軟正黑體" panose="020B0604030504040204" charset="-120"/>
            </a:endParaRPr>
          </a:p>
        </p:txBody>
      </p:sp>
      <p:sp>
        <p:nvSpPr>
          <p:cNvPr id="7" name="投影片編號版面配置區 14"/>
          <p:cNvSpPr txBox="1"/>
          <p:nvPr userDrawn="1"/>
        </p:nvSpPr>
        <p:spPr bwMode="auto">
          <a:xfrm>
            <a:off x="11358034" y="6529389"/>
            <a:ext cx="573617" cy="365125"/>
          </a:xfrm>
          <a:prstGeom prst="rect">
            <a:avLst/>
          </a:prstGeom>
          <a:noFill/>
          <a:ln>
            <a:noFill/>
          </a:ln>
        </p:spPr>
        <p:txBody>
          <a:bodyPr lIns="84401" tIns="42201" rIns="84401" bIns="42201" anchor="ctr"/>
          <a:lstStyle/>
          <a:p>
            <a:pPr algn="ctr" eaLnBrk="1" hangingPunct="1"/>
            <a:fld id="{BA039351-DDD9-47F6-B0DB-96D918534582}" type="slidenum">
              <a:rPr kumimoji="0" lang="zh-TW" altLang="en-US" sz="1100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‹#›</a:t>
            </a:fld>
            <a:endParaRPr kumimoji="0" lang="zh-TW" altLang="en-US" sz="1200" b="1">
              <a:solidFill>
                <a:schemeClr val="bg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圖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267" y="204789"/>
            <a:ext cx="1445684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0" y="863600"/>
            <a:ext cx="1157547" cy="355635"/>
          </a:xfrm>
          <a:prstGeom prst="rect">
            <a:avLst/>
          </a:prstGeom>
          <a:noFill/>
          <a:ln>
            <a:noFill/>
          </a:ln>
        </p:spPr>
        <p:txBody>
          <a:bodyPr wrap="none"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zh-CN" altLang="en-US" b="1" dirty="0">
                <a:solidFill>
                  <a:srgbClr val="0070C0"/>
                </a:solidFill>
              </a:rPr>
              <a:t>执行概述</a:t>
            </a:r>
            <a:r>
              <a:rPr lang="en-US" altLang="zh-CN" b="1" dirty="0">
                <a:solidFill>
                  <a:srgbClr val="0070C0"/>
                </a:solidFill>
              </a:rPr>
              <a:t>: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8534400" y="868363"/>
            <a:ext cx="1761067" cy="354330"/>
          </a:xfrm>
          <a:prstGeom prst="rect">
            <a:avLst/>
          </a:prstGeom>
          <a:noFill/>
          <a:ln>
            <a:noFill/>
          </a:ln>
        </p:spPr>
        <p:txBody>
          <a:bodyPr lIns="77876" tIns="38938" rIns="77876" bIns="38938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zh-CN" altLang="en-US" b="1" dirty="0">
                <a:solidFill>
                  <a:srgbClr val="0070C0"/>
                </a:solidFill>
              </a:rPr>
              <a:t>分类</a:t>
            </a:r>
            <a:r>
              <a:rPr lang="en-US" altLang="zh-CN" b="1" dirty="0">
                <a:solidFill>
                  <a:srgbClr val="0070C0"/>
                </a:solidFill>
              </a:rPr>
              <a:t>: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12" name="標題 1"/>
          <p:cNvSpPr>
            <a:spLocks noGrp="1"/>
          </p:cNvSpPr>
          <p:nvPr>
            <p:ph type="title" hasCustomPrompt="1"/>
          </p:nvPr>
        </p:nvSpPr>
        <p:spPr>
          <a:xfrm>
            <a:off x="556685" y="134938"/>
            <a:ext cx="9249833" cy="728662"/>
          </a:xfrm>
        </p:spPr>
        <p:txBody>
          <a:bodyPr/>
          <a:lstStyle>
            <a:lvl1pPr algn="l">
              <a:defRPr kumimoji="1" lang="zh-TW" altLang="en-US" sz="3690" b="1" kern="1200" dirty="0">
                <a:solidFill>
                  <a:srgbClr val="0075C2"/>
                </a:solidFill>
                <a:latin typeface="Arial" panose="020B0604020202020204" pitchFamily="34" charset="0"/>
                <a:ea typeface="微軟正黑體" panose="020B0604030504040204" charset="-120"/>
                <a:cs typeface="Arial" panose="020B0604020202020204" pitchFamily="34" charset="0"/>
              </a:defRPr>
            </a:lvl1pPr>
          </a:lstStyle>
          <a:p>
            <a:r>
              <a:rPr lang="zh-CN" dirty="0"/>
              <a:t>制程品质问题</a:t>
            </a:r>
            <a:r>
              <a:rPr lang="en-US" altLang="zh-CN" dirty="0"/>
              <a:t> </a:t>
            </a:r>
            <a:endParaRPr lang="zh-TW" altLang="en-US" dirty="0"/>
          </a:p>
        </p:txBody>
      </p:sp>
      <p:sp>
        <p:nvSpPr>
          <p:cNvPr id="29" name="Rectangle 8"/>
          <p:cNvSpPr/>
          <p:nvPr userDrawn="1"/>
        </p:nvSpPr>
        <p:spPr>
          <a:xfrm>
            <a:off x="1" y="1214438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问题描述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(D2) </a:t>
            </a:r>
          </a:p>
        </p:txBody>
      </p:sp>
      <p:sp>
        <p:nvSpPr>
          <p:cNvPr id="30" name="Rectangle 9"/>
          <p:cNvSpPr/>
          <p:nvPr userDrawn="1"/>
        </p:nvSpPr>
        <p:spPr>
          <a:xfrm>
            <a:off x="6191251" y="1214438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事实和数据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(D2/D3) </a:t>
            </a:r>
          </a:p>
        </p:txBody>
      </p:sp>
      <p:sp>
        <p:nvSpPr>
          <p:cNvPr id="31" name="Rectangle 10"/>
          <p:cNvSpPr/>
          <p:nvPr userDrawn="1"/>
        </p:nvSpPr>
        <p:spPr>
          <a:xfrm>
            <a:off x="6191251" y="3733800"/>
            <a:ext cx="6000749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根本原因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(D4) </a:t>
            </a:r>
          </a:p>
        </p:txBody>
      </p:sp>
      <p:sp>
        <p:nvSpPr>
          <p:cNvPr id="32" name="Rectangle 11"/>
          <p:cNvSpPr/>
          <p:nvPr userDrawn="1"/>
        </p:nvSpPr>
        <p:spPr>
          <a:xfrm>
            <a:off x="1" y="3733800"/>
            <a:ext cx="6000751" cy="252000"/>
          </a:xfrm>
          <a:prstGeom prst="rect">
            <a:avLst/>
          </a:prstGeom>
          <a:solidFill>
            <a:srgbClr val="0075C2"/>
          </a:solidFill>
          <a:ln>
            <a:solidFill>
              <a:srgbClr val="0075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7876" tIns="38938" rIns="77876" bIns="38938" anchor="ctr"/>
          <a:lstStyle/>
          <a:p>
            <a:pPr algn="ctr" eaLnBrk="1" hangingPunct="1">
              <a:defRPr/>
            </a:pPr>
            <a:r>
              <a:rPr lang="zh-C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措施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(D5, D6, D7) </a:t>
            </a:r>
          </a:p>
        </p:txBody>
      </p:sp>
      <p:sp>
        <p:nvSpPr>
          <p:cNvPr id="33" name="箭头: 右 14"/>
          <p:cNvSpPr>
            <a:spLocks noChangeArrowheads="1"/>
          </p:cNvSpPr>
          <p:nvPr userDrawn="1"/>
        </p:nvSpPr>
        <p:spPr bwMode="auto">
          <a:xfrm>
            <a:off x="5877985" y="226383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sp>
        <p:nvSpPr>
          <p:cNvPr id="34" name="箭头: 右 15"/>
          <p:cNvSpPr>
            <a:spLocks noChangeArrowheads="1"/>
          </p:cNvSpPr>
          <p:nvPr userDrawn="1"/>
        </p:nvSpPr>
        <p:spPr bwMode="auto">
          <a:xfrm flipH="1">
            <a:off x="5877985" y="4994951"/>
            <a:ext cx="436033" cy="73366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5C2"/>
          </a:solidFill>
          <a:ln w="12700" cap="sq" algn="ctr">
            <a:solidFill>
              <a:srgbClr val="0075C2"/>
            </a:solidFill>
            <a:round/>
          </a:ln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2847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7419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1991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656330" indent="190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defTabSz="914400" eaLnBrk="1" hangingPunct="1">
              <a:spcBef>
                <a:spcPct val="50000"/>
              </a:spcBef>
              <a:defRPr/>
            </a:pPr>
            <a:endParaRPr lang="zh-CN" altLang="en-US" b="1">
              <a:solidFill>
                <a:srgbClr val="FF3300"/>
              </a:solidFill>
            </a:endParaRPr>
          </a:p>
        </p:txBody>
      </p:sp>
      <p:cxnSp>
        <p:nvCxnSpPr>
          <p:cNvPr id="35" name="Straight Connector 7"/>
          <p:cNvCxnSpPr/>
          <p:nvPr userDrawn="1"/>
        </p:nvCxnSpPr>
        <p:spPr>
          <a:xfrm>
            <a:off x="6096000" y="1202653"/>
            <a:ext cx="0" cy="5400000"/>
          </a:xfrm>
          <a:prstGeom prst="line">
            <a:avLst/>
          </a:prstGeom>
          <a:ln w="28575">
            <a:solidFill>
              <a:srgbClr val="0075C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ChangeArrowheads="1"/>
          </p:cNvSpPr>
          <p:nvPr userDrawn="1"/>
        </p:nvSpPr>
        <p:spPr bwMode="auto">
          <a:xfrm>
            <a:off x="3381377" y="6616700"/>
            <a:ext cx="5429249" cy="241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TW"/>
            </a:defPPr>
            <a:lvl1pPr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59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31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03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7530" indent="1905" algn="l" defTabSz="913130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kumimoji="0" lang="en-US" altLang="zh-TW" sz="970" dirty="0">
                <a:latin typeface="Calibri" panose="020F0502020204030204" pitchFamily="34" charset="0"/>
              </a:rPr>
              <a:t>Copyright© 202</a:t>
            </a:r>
            <a:r>
              <a:rPr kumimoji="0" lang="en-US" altLang="zh-CN" sz="970" dirty="0">
                <a:latin typeface="Calibri" panose="020F0502020204030204" pitchFamily="34" charset="0"/>
              </a:rPr>
              <a:t>3</a:t>
            </a:r>
            <a:r>
              <a:rPr kumimoji="0" lang="en-US" altLang="zh-TW" sz="970" dirty="0">
                <a:latin typeface="Calibri" panose="020F0502020204030204" pitchFamily="34" charset="0"/>
              </a:rPr>
              <a:t>PANJIT International Inc. All rights reserved.</a:t>
            </a:r>
            <a:endParaRPr kumimoji="0" lang="zh-TW" altLang="en-US" sz="970" dirty="0">
              <a:latin typeface="Calibri" panose="020F0502020204030204" pitchFamily="34" charset="0"/>
            </a:endParaRPr>
          </a:p>
        </p:txBody>
      </p:sp>
      <p:sp>
        <p:nvSpPr>
          <p:cNvPr id="3" name="矩形 9"/>
          <p:cNvSpPr/>
          <p:nvPr userDrawn="1"/>
        </p:nvSpPr>
        <p:spPr>
          <a:xfrm>
            <a:off x="277813" y="6581775"/>
            <a:ext cx="1054100" cy="245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en-US" altLang="zh-TW" sz="1000" dirty="0">
                <a:latin typeface="Arial" panose="020B0604020202020204" pitchFamily="34" charset="0"/>
              </a:rPr>
              <a:t>Q3, 2023</a:t>
            </a:r>
            <a:endParaRPr lang="zh-TW" altLang="en-US" sz="1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ags" Target="../tags/tag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17" Type="http://schemas.openxmlformats.org/officeDocument/2006/relationships/tags" Target="../tags/tag33.xml"/><Relationship Id="rId2" Type="http://schemas.openxmlformats.org/officeDocument/2006/relationships/slideLayout" Target="../slideLayouts/slideLayout20.xml"/><Relationship Id="rId16" Type="http://schemas.openxmlformats.org/officeDocument/2006/relationships/tags" Target="../tags/tag32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ags" Target="../tags/tag31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ags" Target="../tags/tag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4.xml"/><Relationship Id="rId18" Type="http://schemas.openxmlformats.org/officeDocument/2006/relationships/tags" Target="../tags/tag95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ags" Target="../tags/tag94.xml"/><Relationship Id="rId2" Type="http://schemas.openxmlformats.org/officeDocument/2006/relationships/slideLayout" Target="../slideLayouts/slideLayout31.xml"/><Relationship Id="rId16" Type="http://schemas.openxmlformats.org/officeDocument/2006/relationships/tags" Target="../tags/tag9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tags" Target="../tags/tag92.xml"/><Relationship Id="rId10" Type="http://schemas.openxmlformats.org/officeDocument/2006/relationships/slideLayout" Target="../slideLayouts/slideLayout39.xml"/><Relationship Id="rId19" Type="http://schemas.openxmlformats.org/officeDocument/2006/relationships/tags" Target="../tags/tag96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tags" Target="../tags/tag9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285AF1A-C166-439C-8098-34327406949B}" type="datetime1">
              <a:rPr lang="zh-TW" altLang="en-US"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843915" eaLnBrk="1" fontAlgn="auto" hangingPunct="1">
              <a:spcBef>
                <a:spcPts val="0"/>
              </a:spcBef>
              <a:spcAft>
                <a:spcPts val="0"/>
              </a:spcAft>
              <a:defRPr kumimoji="0" sz="111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B786E1C-D7CA-4D0F-B02C-A4BFA6B0ED8A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kern="1200">
          <a:solidFill>
            <a:schemeClr val="tx1"/>
          </a:solidFill>
          <a:latin typeface="+mj-lt"/>
          <a:ea typeface="+mj-ea"/>
          <a:cs typeface="新細明體" panose="02020500000000000000" pitchFamily="18" charset="-12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  <a:cs typeface="新細明體" panose="02020500000000000000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  <a:cs typeface="新細明體" panose="02020500000000000000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  <a:cs typeface="新細明體" panose="02020500000000000000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  <a:cs typeface="新細明體" panose="02020500000000000000" pitchFamily="18" charset="-120"/>
        </a:defRPr>
      </a:lvl5pPr>
      <a:lvl6pPr marL="42227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</a:defRPr>
      </a:lvl6pPr>
      <a:lvl7pPr marL="84391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</a:defRPr>
      </a:lvl7pPr>
      <a:lvl8pPr marL="1266190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</a:defRPr>
      </a:lvl8pPr>
      <a:lvl9pPr marL="168846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</a:defRPr>
      </a:lvl9pPr>
    </p:titleStyle>
    <p:bodyStyle>
      <a:lvl1pPr marL="421005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200" kern="1200">
          <a:solidFill>
            <a:schemeClr val="tx1"/>
          </a:solidFill>
          <a:latin typeface="微軟正黑體" panose="020B0604030504040204" charset="-120"/>
          <a:ea typeface="微軟正黑體" panose="020B0604030504040204" charset="-120"/>
          <a:cs typeface="微軟正黑體" panose="020B0604030504040204" charset="-120"/>
        </a:defRPr>
      </a:lvl1pPr>
      <a:lvl2pPr marL="843280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200" kern="1200">
          <a:solidFill>
            <a:schemeClr val="tx1"/>
          </a:solidFill>
          <a:latin typeface="微軟正黑體" panose="020B0604030504040204" charset="-120"/>
          <a:ea typeface="微軟正黑體" panose="020B0604030504040204" charset="-120"/>
          <a:cs typeface="微軟正黑體" panose="020B0604030504040204" charset="-120"/>
        </a:defRPr>
      </a:lvl2pPr>
      <a:lvl3pPr marL="1160780" indent="-31623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200" kern="1200">
          <a:solidFill>
            <a:schemeClr val="tx1"/>
          </a:solidFill>
          <a:latin typeface="+mn-lt"/>
          <a:ea typeface="+mn-ea"/>
          <a:cs typeface="新細明體" panose="02020500000000000000" pitchFamily="18" charset="-120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32092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7pPr>
      <a:lvl8pPr marL="316547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8pPr>
      <a:lvl9pPr marL="358711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1pPr>
      <a:lvl2pPr marL="42227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2pPr>
      <a:lvl3pPr marL="84391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26619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4pPr>
      <a:lvl5pPr marL="168846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6pPr>
      <a:lvl7pPr marL="253238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7pPr>
      <a:lvl8pPr marL="295402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8pPr>
      <a:lvl9pPr marL="337629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20390" y="54045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單擊此處編輯母版標題樣式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2545" y="833120"/>
            <a:ext cx="12120880" cy="546354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custDataLst>
      <p:tags r:id="rId1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bg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/>
              <a:t> test 1</a:t>
            </a:r>
          </a:p>
          <a:p>
            <a:pPr lvl="1"/>
            <a:r>
              <a:rPr lang="en-US" altLang="zh-TW"/>
              <a:t> test 1-1</a:t>
            </a:r>
          </a:p>
          <a:p>
            <a:pPr lvl="1"/>
            <a:r>
              <a:rPr lang="en-US" altLang="zh-TW"/>
              <a:t> test 1-2</a:t>
            </a:r>
          </a:p>
          <a:p>
            <a:pPr lvl="2"/>
            <a:r>
              <a:rPr lang="en-US" altLang="zh-TW"/>
              <a:t>test 1-2-1</a:t>
            </a:r>
          </a:p>
          <a:p>
            <a:pPr lvl="0"/>
            <a:r>
              <a:rPr lang="en-US" altLang="zh-TW"/>
              <a:t>test 2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kumimoji="0" sz="111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F3BF0F8-3E79-4BE5-8F18-61B651BF3263}" type="datetime1">
              <a:rPr lang="zh-TW" altLang="en-US"/>
              <a:t>2026/3/6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843915" eaLnBrk="1" fontAlgn="auto" hangingPunct="1">
              <a:spcBef>
                <a:spcPts val="0"/>
              </a:spcBef>
              <a:spcAft>
                <a:spcPts val="0"/>
              </a:spcAft>
              <a:defRPr kumimoji="0" sz="111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kumimoji="0" sz="11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A854543-CB75-4012-9664-5C8BCC59B964}" type="slidenum">
              <a:rPr lang="zh-TW" altLang="en-US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 kern="1200">
          <a:solidFill>
            <a:schemeClr val="tx1"/>
          </a:solidFill>
          <a:latin typeface="+mj-lt"/>
          <a:ea typeface="+mj-ea"/>
          <a:cs typeface="新細明體" panose="02020500000000000000" pitchFamily="18" charset="-12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  <a:cs typeface="新細明體" panose="02020500000000000000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  <a:cs typeface="新細明體" panose="02020500000000000000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  <a:cs typeface="新細明體" panose="02020500000000000000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  <a:cs typeface="新細明體" panose="02020500000000000000" pitchFamily="18" charset="-120"/>
        </a:defRPr>
      </a:lvl5pPr>
      <a:lvl6pPr marL="42227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</a:defRPr>
      </a:lvl6pPr>
      <a:lvl7pPr marL="84391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</a:defRPr>
      </a:lvl7pPr>
      <a:lvl8pPr marL="1266190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</a:defRPr>
      </a:lvl8pPr>
      <a:lvl9pPr marL="1688465" algn="ctr" rtl="0" fontAlgn="base">
        <a:spcBef>
          <a:spcPct val="0"/>
        </a:spcBef>
        <a:spcAft>
          <a:spcPct val="0"/>
        </a:spcAft>
        <a:defRPr sz="4060">
          <a:solidFill>
            <a:schemeClr val="tx1"/>
          </a:solidFill>
          <a:latin typeface="Calibri" panose="020F0502020204030204" pitchFamily="34" charset="0"/>
          <a:ea typeface="新細明體" panose="02020500000000000000" pitchFamily="18" charset="-120"/>
        </a:defRPr>
      </a:lvl9pPr>
    </p:titleStyle>
    <p:bodyStyle>
      <a:lvl1pPr marL="421005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u"/>
        <a:defRPr kumimoji="1" sz="2200" kern="1200">
          <a:solidFill>
            <a:schemeClr val="tx1"/>
          </a:solidFill>
          <a:latin typeface="微軟正黑體" panose="020B0604030504040204" charset="-120"/>
          <a:ea typeface="微軟正黑體" panose="020B0604030504040204" charset="-120"/>
          <a:cs typeface="微軟正黑體" panose="020B0604030504040204" charset="-120"/>
        </a:defRPr>
      </a:lvl1pPr>
      <a:lvl2pPr marL="843280" indent="-421005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kumimoji="1" sz="2200" kern="1200">
          <a:solidFill>
            <a:schemeClr val="tx1"/>
          </a:solidFill>
          <a:latin typeface="微軟正黑體" panose="020B0604030504040204" charset="-120"/>
          <a:ea typeface="微軟正黑體" panose="020B0604030504040204" charset="-120"/>
          <a:cs typeface="微軟正黑體" panose="020B0604030504040204" charset="-120"/>
        </a:defRPr>
      </a:lvl2pPr>
      <a:lvl3pPr marL="1160780" indent="-31623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kumimoji="1" sz="2200" kern="1200">
          <a:solidFill>
            <a:schemeClr val="tx1"/>
          </a:solidFill>
          <a:latin typeface="+mn-lt"/>
          <a:ea typeface="+mn-ea"/>
          <a:cs typeface="新細明體" panose="02020500000000000000" pitchFamily="18" charset="-120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32092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7pPr>
      <a:lvl8pPr marL="316547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8pPr>
      <a:lvl9pPr marL="3587115" indent="-210820" algn="l" defTabSz="84391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1pPr>
      <a:lvl2pPr marL="42227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2pPr>
      <a:lvl3pPr marL="84391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3pPr>
      <a:lvl4pPr marL="126619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4pPr>
      <a:lvl5pPr marL="168846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6pPr>
      <a:lvl7pPr marL="253238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7pPr>
      <a:lvl8pPr marL="2954020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8pPr>
      <a:lvl9pPr marL="3376295" algn="l" defTabSz="843915" rtl="0" eaLnBrk="1" latinLnBrk="0" hangingPunct="1">
        <a:defRPr sz="1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xcel_97-2003_Worksheet.xls"/><Relationship Id="rId13" Type="http://schemas.openxmlformats.org/officeDocument/2006/relationships/image" Target="../media/image12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emf"/><Relationship Id="rId12" Type="http://schemas.openxmlformats.org/officeDocument/2006/relationships/oleObject" Target="../embeddings/Microsoft_Excel_97-2003_Worksheet2.xls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1.xlsx"/><Relationship Id="rId11" Type="http://schemas.openxmlformats.org/officeDocument/2006/relationships/image" Target="../media/image11.emf"/><Relationship Id="rId5" Type="http://schemas.openxmlformats.org/officeDocument/2006/relationships/image" Target="../media/image8.emf"/><Relationship Id="rId10" Type="http://schemas.openxmlformats.org/officeDocument/2006/relationships/oleObject" Target="../embeddings/Microsoft_Excel_97-2003_Worksheet1.xls"/><Relationship Id="rId4" Type="http://schemas.openxmlformats.org/officeDocument/2006/relationships/package" Target="../embeddings/Microsoft_Excel_Worksheet.xlsx"/><Relationship Id="rId9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package" Target="../embeddings/Microsoft_Excel_Macro-Enabled_Worksheet.xlsm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png"/><Relationship Id="rId5" Type="http://schemas.openxmlformats.org/officeDocument/2006/relationships/image" Target="../media/image15.emf"/><Relationship Id="rId4" Type="http://schemas.openxmlformats.org/officeDocument/2006/relationships/package" Target="../embeddings/Microsoft_Excel_Macro-Enabled_Worksheet2.xlsm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矩形 1"/>
          <p:cNvSpPr>
            <a:spLocks noChangeArrowheads="1"/>
          </p:cNvSpPr>
          <p:nvPr/>
        </p:nvSpPr>
        <p:spPr bwMode="auto">
          <a:xfrm>
            <a:off x="5060885" y="6579350"/>
            <a:ext cx="407193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微軟正黑體" panose="020B0604030504040204" charset="-120"/>
                <a:ea typeface="微軟正黑體" panose="020B060403050404020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微軟正黑體" panose="020B0604030504040204" charset="-120"/>
                <a:ea typeface="微軟正黑體" panose="020B060403050404020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zh-TW" sz="1015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Copyright© 2024 PANJIT International Inc. All rights reserved.</a:t>
            </a:r>
            <a:endParaRPr kumimoji="0" lang="zh-TW" altLang="en-US" sz="1015" dirty="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6149" name="Picture 5" descr="D:\02 Marketing 美編\強茂logo\PANJIT LOGO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9253538" y="5672139"/>
            <a:ext cx="12192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3"/>
          <p:cNvSpPr txBox="1">
            <a:spLocks noChangeArrowheads="1"/>
          </p:cNvSpPr>
          <p:nvPr/>
        </p:nvSpPr>
        <p:spPr bwMode="auto">
          <a:xfrm>
            <a:off x="3985882" y="2438890"/>
            <a:ext cx="6221943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微軟正黑體" panose="020B0604030504040204" charset="-120"/>
                <a:ea typeface="微軟正黑體" panose="020B060403050404020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微軟正黑體" panose="020B0604030504040204" charset="-120"/>
                <a:ea typeface="微軟正黑體" panose="020B060403050404020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buNone/>
            </a:pPr>
            <a:r>
              <a:rPr kumimoji="0" lang="en-US" altLang="zh-CN" sz="4400" b="1" u="sng" dirty="0">
                <a:solidFill>
                  <a:srgbClr val="0075C2"/>
                </a:solidFill>
                <a:cs typeface="Arial" panose="020B0604020202020204" pitchFamily="34" charset="0"/>
              </a:rPr>
              <a:t>CP</a:t>
            </a:r>
            <a:r>
              <a:rPr kumimoji="0" lang="zh-CN" altLang="en-US" sz="4400" b="1" u="sng" dirty="0">
                <a:solidFill>
                  <a:srgbClr val="0075C2"/>
                </a:solidFill>
                <a:cs typeface="Arial" panose="020B0604020202020204" pitchFamily="34" charset="0"/>
              </a:rPr>
              <a:t>审核范例</a:t>
            </a:r>
            <a:endParaRPr kumimoji="0" lang="zh-CN" altLang="en-US" sz="4400" b="1" dirty="0">
              <a:solidFill>
                <a:srgbClr val="0075C2"/>
              </a:solidFill>
              <a:cs typeface="Arial" panose="020B0604020202020204" pitchFamily="34" charset="0"/>
            </a:endParaRPr>
          </a:p>
        </p:txBody>
      </p:sp>
      <p:sp>
        <p:nvSpPr>
          <p:cNvPr id="6" name="文字方塊 3"/>
          <p:cNvSpPr txBox="1"/>
          <p:nvPr>
            <p:custDataLst>
              <p:tags r:id="rId1"/>
            </p:custDataLst>
          </p:nvPr>
        </p:nvSpPr>
        <p:spPr>
          <a:xfrm>
            <a:off x="3514646" y="1399333"/>
            <a:ext cx="6975610" cy="7694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4572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u"/>
              <a:defRPr kumimoji="1" sz="2400" kern="1200">
                <a:solidFill>
                  <a:schemeClr val="tx1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defRPr>
            </a:lvl1pPr>
            <a:lvl2pPr marL="9144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 kern="1200">
                <a:solidFill>
                  <a:schemeClr val="tx1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defRPr>
            </a:lvl2pPr>
            <a:lvl3pPr marL="12573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新細明體" panose="02020500000000000000" pitchFamily="18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913130" eaLnBrk="1" hangingPunct="1">
              <a:spcBef>
                <a:spcPts val="0"/>
              </a:spcBef>
              <a:buNone/>
            </a:pPr>
            <a:endParaRPr lang="zh-CN" altLang="en-US" sz="4400" b="1" dirty="0">
              <a:solidFill>
                <a:srgbClr val="0075C2"/>
              </a:solidFill>
              <a:latin typeface="Arial" panose="020B0604020202020204" pitchFamily="34" charset="0"/>
              <a:ea typeface="汉仪君黑-75简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78110" y="-933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標題 2"/>
          <p:cNvSpPr>
            <a:spLocks noGrp="1"/>
          </p:cNvSpPr>
          <p:nvPr>
            <p:ph type="title"/>
          </p:nvPr>
        </p:nvSpPr>
        <p:spPr>
          <a:xfrm>
            <a:off x="605390" y="216623"/>
            <a:ext cx="6558987" cy="728662"/>
          </a:xfrm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晶圆</a:t>
            </a:r>
            <a:r>
              <a:rPr lang="en-US" altLang="zh-CN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CP</a:t>
            </a:r>
            <a:r>
              <a:rPr lang="zh-CN" altLang="en-US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审核</a:t>
            </a:r>
            <a:r>
              <a:rPr lang="en-US" altLang="zh-CN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-</a:t>
            </a:r>
            <a:r>
              <a:rPr lang="zh-CN" altLang="en-US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现在在执行</a:t>
            </a:r>
            <a:endParaRPr lang="zh-CN" altLang="en-US" sz="3200" dirty="0">
              <a:latin typeface="Arial" panose="020B0604020202020204" pitchFamily="34" charset="0"/>
              <a:cs typeface="新細明體" panose="02020500000000000000" pitchFamily="18" charset="-120"/>
              <a:sym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BB6D7F5-3D95-4285-ABA2-7394C8AE91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099906"/>
              </p:ext>
            </p:extLst>
          </p:nvPr>
        </p:nvGraphicFramePr>
        <p:xfrm>
          <a:off x="2161816" y="1747716"/>
          <a:ext cx="1194841" cy="1035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Worksheet" showAsIcon="1" r:id="rId4" imgW="914400" imgH="792417" progId="Excel.Sheet.12">
                  <p:embed/>
                </p:oleObj>
              </mc:Choice>
              <mc:Fallback>
                <p:oleObj name="Worksheet" showAsIcon="1" r:id="rId4" imgW="914400" imgH="79241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1816" y="1747716"/>
                        <a:ext cx="1194841" cy="1035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D3B8D09-BC01-42CC-91E9-38CFEC34D4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760747"/>
              </p:ext>
            </p:extLst>
          </p:nvPr>
        </p:nvGraphicFramePr>
        <p:xfrm>
          <a:off x="6186010" y="1727161"/>
          <a:ext cx="1080120" cy="935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Worksheet" showAsIcon="1" r:id="rId6" imgW="914400" imgH="792417" progId="Excel.Sheet.12">
                  <p:embed/>
                </p:oleObj>
              </mc:Choice>
              <mc:Fallback>
                <p:oleObj name="Worksheet" showAsIcon="1" r:id="rId6" imgW="914400" imgH="79241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86010" y="1727161"/>
                        <a:ext cx="1080120" cy="935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4CA22D1-9605-48E6-B9CC-3AA32BB1C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739327"/>
              </p:ext>
            </p:extLst>
          </p:nvPr>
        </p:nvGraphicFramePr>
        <p:xfrm>
          <a:off x="3636078" y="1785522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Worksheet" showAsIcon="1" r:id="rId8" imgW="914400" imgH="792417" progId="Excel.Sheet.8">
                  <p:embed/>
                </p:oleObj>
              </mc:Choice>
              <mc:Fallback>
                <p:oleObj name="Worksheet" showAsIcon="1" r:id="rId8" imgW="914400" imgH="792417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36078" y="1785522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91AADF5-94C6-4007-9AA4-F03A5C166B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619171"/>
              </p:ext>
            </p:extLst>
          </p:nvPr>
        </p:nvGraphicFramePr>
        <p:xfrm>
          <a:off x="4790855" y="1789704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Worksheet" showAsIcon="1" r:id="rId10" imgW="914400" imgH="792417" progId="Excel.Sheet.8">
                  <p:embed/>
                </p:oleObj>
              </mc:Choice>
              <mc:Fallback>
                <p:oleObj name="Worksheet" showAsIcon="1" r:id="rId10" imgW="914400" imgH="792417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90855" y="1789704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9A8EA861-BA16-478F-BDC9-016A1913DBA2}"/>
              </a:ext>
            </a:extLst>
          </p:cNvPr>
          <p:cNvSpPr txBox="1"/>
          <p:nvPr/>
        </p:nvSpPr>
        <p:spPr>
          <a:xfrm>
            <a:off x="509508" y="956002"/>
            <a:ext cx="337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不同晶圆厂家的不同</a:t>
            </a:r>
            <a:r>
              <a:rPr lang="en-US" altLang="zh-CN" dirty="0"/>
              <a:t>CP</a:t>
            </a:r>
            <a:r>
              <a:rPr lang="zh-CN" altLang="en-US" dirty="0"/>
              <a:t>档案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4DC2051-03CA-48C3-9D49-BA79632EEC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505325"/>
              </p:ext>
            </p:extLst>
          </p:nvPr>
        </p:nvGraphicFramePr>
        <p:xfrm>
          <a:off x="7930880" y="1727161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Worksheet" showAsIcon="1" r:id="rId12" imgW="914400" imgH="792417" progId="Excel.Sheet.8">
                  <p:embed/>
                </p:oleObj>
              </mc:Choice>
              <mc:Fallback>
                <p:oleObj name="Worksheet" showAsIcon="1" r:id="rId12" imgW="914400" imgH="792417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930880" y="1727161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標題 2"/>
          <p:cNvSpPr>
            <a:spLocks noGrp="1"/>
          </p:cNvSpPr>
          <p:nvPr>
            <p:ph type="title"/>
          </p:nvPr>
        </p:nvSpPr>
        <p:spPr>
          <a:xfrm>
            <a:off x="605390" y="216623"/>
            <a:ext cx="6558987" cy="728662"/>
          </a:xfrm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晶圆</a:t>
            </a:r>
            <a:r>
              <a:rPr lang="en-US" altLang="zh-CN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CP</a:t>
            </a:r>
            <a:r>
              <a:rPr lang="zh-CN" altLang="en-US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审核</a:t>
            </a:r>
            <a:r>
              <a:rPr lang="en-US" altLang="zh-CN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-</a:t>
            </a:r>
            <a:r>
              <a:rPr lang="zh-CN" altLang="en-US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现在在执行</a:t>
            </a:r>
            <a:endParaRPr lang="zh-CN" altLang="en-US" sz="3200" dirty="0">
              <a:latin typeface="Arial" panose="020B0604020202020204" pitchFamily="34" charset="0"/>
              <a:cs typeface="新細明體" panose="02020500000000000000" pitchFamily="18" charset="-120"/>
              <a:sym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8EA861-BA16-478F-BDC9-016A1913DBA2}"/>
              </a:ext>
            </a:extLst>
          </p:cNvPr>
          <p:cNvSpPr txBox="1"/>
          <p:nvPr/>
        </p:nvSpPr>
        <p:spPr>
          <a:xfrm>
            <a:off x="509508" y="956002"/>
            <a:ext cx="4101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不同晶圆厂家的不同</a:t>
            </a:r>
            <a:r>
              <a:rPr lang="en-US" altLang="zh-CN" dirty="0"/>
              <a:t>CP</a:t>
            </a:r>
            <a:r>
              <a:rPr lang="zh-CN" altLang="en-US" dirty="0"/>
              <a:t>档案审核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E2AAA67-3E60-47FC-82FC-8F8A056998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123366"/>
              </p:ext>
            </p:extLst>
          </p:nvPr>
        </p:nvGraphicFramePr>
        <p:xfrm>
          <a:off x="695400" y="2933945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Macro-Enabled Worksheet" showAsIcon="1" r:id="rId4" imgW="914400" imgH="792417" progId="Excel.SheetMacroEnabled.12">
                  <p:embed/>
                </p:oleObj>
              </mc:Choice>
              <mc:Fallback>
                <p:oleObj name="Macro-Enabled Worksheet" showAsIcon="1" r:id="rId4" imgW="914400" imgH="792417" progId="Excel.SheetMacroEnabled.12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E2AAA67-3E60-47FC-82FC-8F8A056998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5400" y="2933945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5498036C-49F2-4971-A6AA-04ACAABD6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0685" y="1632304"/>
            <a:ext cx="8173318" cy="339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0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標題 2"/>
          <p:cNvSpPr>
            <a:spLocks noGrp="1"/>
          </p:cNvSpPr>
          <p:nvPr>
            <p:ph type="title"/>
          </p:nvPr>
        </p:nvSpPr>
        <p:spPr>
          <a:xfrm>
            <a:off x="605390" y="216623"/>
            <a:ext cx="6558987" cy="728662"/>
          </a:xfrm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晶圆</a:t>
            </a:r>
            <a:r>
              <a:rPr lang="en-US" altLang="zh-CN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CP</a:t>
            </a:r>
            <a:r>
              <a:rPr lang="zh-CN" altLang="en-US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审核</a:t>
            </a:r>
            <a:r>
              <a:rPr lang="en-US" altLang="zh-CN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-</a:t>
            </a:r>
            <a:r>
              <a:rPr lang="zh-CN" altLang="en-US" sz="280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现在在执行</a:t>
            </a:r>
            <a:endParaRPr lang="zh-CN" altLang="en-US" sz="3200" dirty="0">
              <a:latin typeface="Arial" panose="020B0604020202020204" pitchFamily="34" charset="0"/>
              <a:cs typeface="新細明體" panose="02020500000000000000" pitchFamily="18" charset="-120"/>
              <a:sym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8EA861-BA16-478F-BDC9-016A1913DBA2}"/>
              </a:ext>
            </a:extLst>
          </p:cNvPr>
          <p:cNvSpPr txBox="1"/>
          <p:nvPr/>
        </p:nvSpPr>
        <p:spPr>
          <a:xfrm>
            <a:off x="509508" y="956002"/>
            <a:ext cx="4101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不同晶圆厂家的不同</a:t>
            </a:r>
            <a:r>
              <a:rPr lang="en-US" altLang="zh-CN" dirty="0"/>
              <a:t>CP</a:t>
            </a:r>
            <a:r>
              <a:rPr lang="zh-CN" altLang="en-US" dirty="0"/>
              <a:t>档案审核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C051C11-94A6-492A-BE7A-7751D86083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968725"/>
              </p:ext>
            </p:extLst>
          </p:nvPr>
        </p:nvGraphicFramePr>
        <p:xfrm>
          <a:off x="920425" y="2843935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Macro-Enabled Worksheet" showAsIcon="1" r:id="rId4" imgW="914400" imgH="792417" progId="Excel.SheetMacroEnabled.12">
                  <p:embed/>
                </p:oleObj>
              </mc:Choice>
              <mc:Fallback>
                <p:oleObj name="Macro-Enabled Worksheet" showAsIcon="1" r:id="rId4" imgW="914400" imgH="792417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0425" y="2843935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E77D5BA5-9E12-46EB-A974-4CBD53E1AC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5590" y="1628800"/>
            <a:ext cx="9140707" cy="435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8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標題 2"/>
          <p:cNvSpPr>
            <a:spLocks noGrp="1"/>
          </p:cNvSpPr>
          <p:nvPr>
            <p:ph type="title"/>
          </p:nvPr>
        </p:nvSpPr>
        <p:spPr>
          <a:xfrm>
            <a:off x="605390" y="216623"/>
            <a:ext cx="6558987" cy="728662"/>
          </a:xfrm>
        </p:spPr>
        <p:txBody>
          <a:bodyPr vert="horz" wrap="square" lIns="91440" tIns="45720" rIns="91440" bIns="45720" anchor="ctr" anchorCtr="0"/>
          <a:lstStyle/>
          <a:p>
            <a:pPr>
              <a:buNone/>
            </a:pPr>
            <a:r>
              <a:rPr lang="zh-CN" altLang="en-US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晶圆</a:t>
            </a:r>
            <a:r>
              <a:rPr lang="en-US" altLang="zh-CN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CP</a:t>
            </a:r>
            <a:r>
              <a:rPr lang="zh-CN" altLang="en-US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审核</a:t>
            </a:r>
            <a:r>
              <a:rPr lang="en-US" altLang="zh-CN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-</a:t>
            </a:r>
            <a:r>
              <a:rPr lang="zh-CN" altLang="en-US" sz="2800" dirty="0">
                <a:latin typeface="Arial" panose="020B0604020202020204" pitchFamily="34" charset="0"/>
                <a:cs typeface="新細明體" panose="02020500000000000000" pitchFamily="18" charset="-120"/>
                <a:sym typeface="+mn-ea"/>
              </a:rPr>
              <a:t>期望</a:t>
            </a:r>
            <a:endParaRPr lang="zh-CN" altLang="en-US" sz="3200" dirty="0">
              <a:latin typeface="Arial" panose="020B0604020202020204" pitchFamily="34" charset="0"/>
              <a:cs typeface="新細明體" panose="02020500000000000000" pitchFamily="18" charset="-120"/>
              <a:sym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8EA861-BA16-478F-BDC9-016A1913DBA2}"/>
              </a:ext>
            </a:extLst>
          </p:cNvPr>
          <p:cNvSpPr txBox="1"/>
          <p:nvPr/>
        </p:nvSpPr>
        <p:spPr>
          <a:xfrm>
            <a:off x="515380" y="926196"/>
            <a:ext cx="92769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目前只针对了</a:t>
            </a:r>
            <a:r>
              <a:rPr lang="en-US" altLang="zh-CN" dirty="0"/>
              <a:t>JJW</a:t>
            </a:r>
            <a:r>
              <a:rPr lang="zh-CN" altLang="en-US" dirty="0"/>
              <a:t>和</a:t>
            </a:r>
            <a:r>
              <a:rPr lang="en-US" altLang="zh-CN" dirty="0"/>
              <a:t>XRW</a:t>
            </a:r>
            <a:r>
              <a:rPr lang="zh-CN" altLang="en-US" dirty="0"/>
              <a:t>建立了</a:t>
            </a:r>
            <a:r>
              <a:rPr lang="en-US" altLang="zh-CN" dirty="0"/>
              <a:t>EXCEL VBA</a:t>
            </a:r>
            <a:r>
              <a:rPr lang="zh-CN" altLang="en-US" dirty="0"/>
              <a:t>档案手动处理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其余晶圆厂的</a:t>
            </a:r>
            <a:r>
              <a:rPr lang="en-US" altLang="zh-CN" dirty="0"/>
              <a:t>CP</a:t>
            </a:r>
            <a:r>
              <a:rPr lang="zh-CN" altLang="en-US" dirty="0"/>
              <a:t>档目前无法数据的审核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已建立</a:t>
            </a:r>
            <a:r>
              <a:rPr lang="en-US" altLang="zh-CN" dirty="0"/>
              <a:t>VBA</a:t>
            </a:r>
            <a:r>
              <a:rPr lang="zh-CN" altLang="en-US" dirty="0"/>
              <a:t>档的，也只是针对每批次进行审核，无法进行审核数据的留档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期望增加对封装测规与</a:t>
            </a:r>
            <a:r>
              <a:rPr lang="en-US" altLang="zh-CN" dirty="0"/>
              <a:t>CP</a:t>
            </a:r>
            <a:r>
              <a:rPr lang="zh-CN" altLang="en-US" dirty="0"/>
              <a:t>的对比，将封装的测规放到系统里，选择我想对比的项目，输入内部规则，然后自动进行符合性筛选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建立各个厂家的数据库，针对关注的项目可以随时查看</a:t>
            </a:r>
          </a:p>
        </p:txBody>
      </p:sp>
    </p:spTree>
    <p:extLst>
      <p:ext uri="{BB962C8B-B14F-4D97-AF65-F5344CB8AC3E}">
        <p14:creationId xmlns:p14="http://schemas.microsoft.com/office/powerpoint/2010/main" val="366340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email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5" descr="D:\02 Marketing 美編\強茂logo\PANJIT LOGO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9253538" y="5672139"/>
            <a:ext cx="12192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4115780" y="6606020"/>
            <a:ext cx="407193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 kumimoji="1" sz="2400">
                <a:solidFill>
                  <a:schemeClr val="tx1"/>
                </a:solidFill>
                <a:latin typeface="微軟正黑體" panose="020B0604030504040204" charset="-120"/>
                <a:ea typeface="微軟正黑體" panose="020B0604030504040204" charset="-12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  <a:defRPr kumimoji="1" sz="2400">
                <a:solidFill>
                  <a:schemeClr val="tx1"/>
                </a:solidFill>
                <a:latin typeface="微軟正黑體" panose="020B0604030504040204" charset="-120"/>
                <a:ea typeface="微軟正黑體" panose="020B0604030504040204" charset="-120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defTabSz="9131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kumimoji="0" lang="en-US" altLang="zh-TW" sz="1015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</a:rPr>
              <a:t>Copyright© 2023 PANJIT International Inc. All rights reserved.</a:t>
            </a:r>
            <a:endParaRPr kumimoji="0" lang="zh-TW" altLang="en-US" sz="1015" dirty="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d019cd7-b4d5-445f-80a2-a8da1087938e"/>
  <p:tag name="RESOURCE_RECORD_KEY" val="{&quot;70&quot;:[3316162]}"/>
  <p:tag name="COMMONDATA" val="eyJoZGlkIjoiMzkwNTA4NzMzMjVhYWI1ODI2YWZlZjY1MjNkZGM3ZW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訂設計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229</Words>
  <Application>Microsoft Office PowerPoint</Application>
  <PresentationFormat>宽屏</PresentationFormat>
  <Paragraphs>24</Paragraphs>
  <Slides>6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微軟正黑體</vt:lpstr>
      <vt:lpstr>新細明體</vt:lpstr>
      <vt:lpstr>汉仪君黑-75简</vt:lpstr>
      <vt:lpstr>宋体</vt:lpstr>
      <vt:lpstr>Microsoft YaHei</vt:lpstr>
      <vt:lpstr>Microsoft YaHei</vt:lpstr>
      <vt:lpstr>Arial</vt:lpstr>
      <vt:lpstr>Calibri</vt:lpstr>
      <vt:lpstr>Wingdings</vt:lpstr>
      <vt:lpstr>自訂設計</vt:lpstr>
      <vt:lpstr>2_自定义设计方案</vt:lpstr>
      <vt:lpstr>1_自定义设计方案</vt:lpstr>
      <vt:lpstr>自定义设计方案</vt:lpstr>
      <vt:lpstr>1_自訂設計</vt:lpstr>
      <vt:lpstr>Microsoft Excel 工作表</vt:lpstr>
      <vt:lpstr>Microsoft Excel 97-2003 工作表</vt:lpstr>
      <vt:lpstr>Microsoft Excel 启用宏的工作表</vt:lpstr>
      <vt:lpstr>PowerPoint 演示文稿</vt:lpstr>
      <vt:lpstr>晶圆CP审核-现在在执行</vt:lpstr>
      <vt:lpstr>晶圆CP审核-现在在执行</vt:lpstr>
      <vt:lpstr>晶圆CP审核-现在在执行</vt:lpstr>
      <vt:lpstr>晶圆CP审核-期望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cindy013</dc:creator>
  <cp:lastModifiedBy>BangjieQi 戚邦杰</cp:lastModifiedBy>
  <cp:revision>3549</cp:revision>
  <cp:lastPrinted>2022-12-01T09:09:00Z</cp:lastPrinted>
  <dcterms:created xsi:type="dcterms:W3CDTF">2018-01-19T10:00:00Z</dcterms:created>
  <dcterms:modified xsi:type="dcterms:W3CDTF">2026-03-06T05:54:10Z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DE5F570FB1E144A8AA4DC728933DA27E_13</vt:lpwstr>
  </property>
  <property fmtid="{D5CDD505-2E9C-101B-9397-08002B2CF9AE}" pid="3" name="KSOProductBuildVer">
    <vt:lpwstr>2052-12.1.0.17827</vt:lpwstr>
  </property>
</Properties>
</file>